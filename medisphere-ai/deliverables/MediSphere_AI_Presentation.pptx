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887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MediSphere AI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C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intelligence for hospitals that operate in many countries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206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|  11-day AI Application Development course  |  Edvergencex x TTIT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Multi-country hospitals run on disconnected tools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MediSphere AI  |  Edvergencex x TTIT capstone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triage is slow and varies between sites and nurses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 are scattered; clinicians need answers with sources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reports arrive as scans and PDFs that nobody can search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country has its own language, emergency number and rules for data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need one view of waits, triage mix and readmission risk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0" y="137160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0" y="13716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76656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4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sites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0" y="242316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242316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766560" y="24231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4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0" y="347472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347472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766560" y="34747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4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request passes the same safety pipeline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MediSphere AI  |  Edvergencex x TTIT capstone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508760" cy="1554480"/>
          </a:xfrm>
          <a:prstGeom prst="roundRect">
            <a:avLst>
              <a:gd name="adj" fmla="val 4848"/>
            </a:avLst>
          </a:prstGeom>
          <a:solidFill>
            <a:srgbClr val="0B2536"/>
          </a:solidFill>
          <a:ln w="12700">
            <a:solidFill>
              <a:srgbClr val="0B25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UI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screens, voice, 4 languages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21408" y="1554480"/>
            <a:ext cx="1508760" cy="1554480"/>
          </a:xfrm>
          <a:prstGeom prst="roundRect">
            <a:avLst>
              <a:gd name="adj" fmla="val 4848"/>
            </a:avLst>
          </a:prstGeom>
          <a:solidFill>
            <a:srgbClr val="0B2536"/>
          </a:solidFill>
          <a:ln w="12700">
            <a:solidFill>
              <a:srgbClr val="0B25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12848" y="16459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12848" y="210312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Sign-in, RBAC, rate limits, audit chain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85616" y="1554480"/>
            <a:ext cx="1508760" cy="1554480"/>
          </a:xfrm>
          <a:prstGeom prst="roundRect">
            <a:avLst>
              <a:gd name="adj" fmla="val 4848"/>
            </a:avLst>
          </a:prstGeom>
          <a:solidFill>
            <a:srgbClr val="0B2536"/>
          </a:solidFill>
          <a:ln w="12700">
            <a:solidFill>
              <a:srgbClr val="0B25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77056" y="16459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77056" y="210312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masking, injection filter, crisis routing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49824" y="1554480"/>
            <a:ext cx="1508760" cy="1554480"/>
          </a:xfrm>
          <a:prstGeom prst="roundRect">
            <a:avLst>
              <a:gd name="adj" fmla="val 4848"/>
            </a:avLst>
          </a:prstGeom>
          <a:solidFill>
            <a:srgbClr val="0B2536"/>
          </a:solidFill>
          <a:ln w="12700">
            <a:solidFill>
              <a:srgbClr val="0B25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41264" y="16459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RAG, agents, tools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541264" y="210312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search, NEWS2, drug checker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14032" y="1554480"/>
            <a:ext cx="1508760" cy="1554480"/>
          </a:xfrm>
          <a:prstGeom prst="roundRect">
            <a:avLst>
              <a:gd name="adj" fmla="val 4848"/>
            </a:avLst>
          </a:prstGeom>
          <a:solidFill>
            <a:srgbClr val="0B2536"/>
          </a:solidFill>
          <a:ln w="12700">
            <a:solidFill>
              <a:srgbClr val="0B25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05472" y="16459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05472" y="210312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to PostgreSQL, FHIR R4 export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core with a stdlib server and an optional FastAPI app; same route pipeline for both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hybrid retriever (BM25 + LSA vectors) works with no external service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live LLM; offline mode keeps the demo fully working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11 days fit in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MediSphere AI  |  Edvergencex x TTIT capstone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1920240" cy="64008"/>
          </a:xfrm>
          <a:prstGeom prst="rect">
            <a:avLst/>
          </a:prstGeom>
          <a:solidFill>
            <a:srgbClr val="0A6C8A"/>
          </a:solidFill>
          <a:ln w="12700">
            <a:solidFill>
              <a:srgbClr val="0A6C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898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Python for AI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modules, config, tests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42032" y="128016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42032" y="1280160"/>
            <a:ext cx="1920240" cy="64008"/>
          </a:xfrm>
          <a:prstGeom prst="rect">
            <a:avLst/>
          </a:prstGeom>
          <a:solidFill>
            <a:srgbClr val="0A6C8A"/>
          </a:solidFill>
          <a:ln w="12700">
            <a:solidFill>
              <a:srgbClr val="0A6C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33472" y="13898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Data and APIs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33472" y="17373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dashboard, REST routes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26864" y="128016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26864" y="1280160"/>
            <a:ext cx="1920240" cy="64008"/>
          </a:xfrm>
          <a:prstGeom prst="rect">
            <a:avLst/>
          </a:prstGeom>
          <a:solidFill>
            <a:srgbClr val="0A6C8A"/>
          </a:solidFill>
          <a:ln w="12700">
            <a:solidFill>
              <a:srgbClr val="0A6C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18304" y="13898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Prompt engineering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18304" y="17373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prompts, structured output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711696" y="128016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11696" y="1280160"/>
            <a:ext cx="1920240" cy="64008"/>
          </a:xfrm>
          <a:prstGeom prst="rect">
            <a:avLst/>
          </a:prstGeom>
          <a:solidFill>
            <a:srgbClr val="0A6C8A"/>
          </a:solidFill>
          <a:ln w="12700">
            <a:solidFill>
              <a:srgbClr val="0A6C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03136" y="13898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LLM apps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03136" y="17373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memory, follow-ups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242316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423160"/>
            <a:ext cx="1920240" cy="64008"/>
          </a:xfrm>
          <a:prstGeom prst="rect">
            <a:avLst/>
          </a:prstGeom>
          <a:solidFill>
            <a:srgbClr val="0A6C8A"/>
          </a:solidFill>
          <a:ln w="12700">
            <a:solidFill>
              <a:srgbClr val="0A6C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5328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Multimodal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28803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of lab reports, voice input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542032" y="242316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42032" y="2423160"/>
            <a:ext cx="1920240" cy="64008"/>
          </a:xfrm>
          <a:prstGeom prst="rect">
            <a:avLst/>
          </a:prstGeom>
          <a:solidFill>
            <a:srgbClr val="0A6C8A"/>
          </a:solidFill>
          <a:ln w="12700">
            <a:solidFill>
              <a:srgbClr val="0A6C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33472" y="25328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 Automation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633472" y="28803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9-step intake workflow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626864" y="242316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26864" y="2423160"/>
            <a:ext cx="1920240" cy="64008"/>
          </a:xfrm>
          <a:prstGeom prst="rect">
            <a:avLst/>
          </a:prstGeom>
          <a:solidFill>
            <a:srgbClr val="0A6C8A"/>
          </a:solidFill>
          <a:ln w="12700">
            <a:solidFill>
              <a:srgbClr val="0A6C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18304" y="25328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 Embeddings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18304" y="28803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and search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711696" y="242316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11696" y="2423160"/>
            <a:ext cx="1920240" cy="64008"/>
          </a:xfrm>
          <a:prstGeom prst="rect">
            <a:avLst/>
          </a:prstGeom>
          <a:solidFill>
            <a:srgbClr val="0A6C8A"/>
          </a:solidFill>
          <a:ln w="12700">
            <a:solidFill>
              <a:srgbClr val="0A6C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03136" y="25328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 RAG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03136" y="28803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answers, abstain rule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57200" y="356616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566160"/>
            <a:ext cx="1920240" cy="64008"/>
          </a:xfrm>
          <a:prstGeom prst="rect">
            <a:avLst/>
          </a:prstGeom>
          <a:solidFill>
            <a:srgbClr val="0A6C8A"/>
          </a:solidFill>
          <a:ln w="12700">
            <a:solidFill>
              <a:srgbClr val="0A6C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36758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  Advanced RAG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8640" y="40233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search, guardrails, audit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2542032" y="356616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42032" y="3566160"/>
            <a:ext cx="1920240" cy="64008"/>
          </a:xfrm>
          <a:prstGeom prst="rect">
            <a:avLst/>
          </a:prstGeom>
          <a:solidFill>
            <a:srgbClr val="0A6C8A"/>
          </a:solidFill>
          <a:ln w="12700">
            <a:solidFill>
              <a:srgbClr val="0A6C8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33472" y="36758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 Agentic AI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633472" y="40233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tools, review, trace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626864" y="356616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26864" y="3566160"/>
            <a:ext cx="1920240" cy="64008"/>
          </a:xfrm>
          <a:prstGeom prst="rect">
            <a:avLst/>
          </a:prstGeom>
          <a:solidFill>
            <a:srgbClr val="0A6C8A"/>
          </a:solidFill>
          <a:ln w="12700">
            <a:solidFill>
              <a:srgbClr val="0A6C8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18304" y="36758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  Deployment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718304" y="40233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CI, health checks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view of the last 90 days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MediSphere AI  |  Edvergencex x TTIT capstone</a:t>
            </a:r>
            <a:endParaRPr lang="en-US" sz="900" dirty="0"/>
          </a:p>
        </p:txBody>
      </p:sp>
      <p:pic>
        <p:nvPicPr>
          <p:cNvPr id="5" name="Image 0" descr="/home/claude/work/medisphere-ai/assets/screen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212080" cy="3142578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5943600" y="1371600"/>
            <a:ext cx="2743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Throughput, waits, triage mix and readmission risk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emergency count for the selected site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Synthetic, de-identified data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Queue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urgent patient first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MediSphere AI  |  Edvergencex x TTIT capstone</a:t>
            </a:r>
            <a:endParaRPr lang="en-US" sz="900" dirty="0"/>
          </a:p>
        </p:txBody>
      </p:sp>
      <p:pic>
        <p:nvPicPr>
          <p:cNvPr id="5" name="Image 0" descr="/home/claude/work/medisphere-ai/assets/screens/que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212080" cy="3142578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5943600" y="1371600"/>
            <a:ext cx="2743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turn red past the target for the triage level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Nurses start treatment from the queue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kept per hospital site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Assistant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with sources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MediSphere AI  |  Edvergencex x TTIT capstone</a:t>
            </a:r>
            <a:endParaRPr lang="en-US" sz="900" dirty="0"/>
          </a:p>
        </p:txBody>
      </p:sp>
      <p:pic>
        <p:nvPicPr>
          <p:cNvPr id="5" name="Image 0" descr="/home/claude/work/medisphere-ai/assets/screens/assista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212080" cy="3142578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5943600" y="1371600"/>
            <a:ext cx="2743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over 38 guideline documents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it does not know when evidence is weak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Drug-interaction alert and emergency banner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explainable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MediSphere AI  |  Edvergencex x TTIT capstone</a:t>
            </a:r>
            <a:endParaRPr lang="en-US" sz="900" dirty="0"/>
          </a:p>
        </p:txBody>
      </p:sp>
      <p:pic>
        <p:nvPicPr>
          <p:cNvPr id="5" name="Image 0" descr="/home/claude/work/medisphere-ai/assets/screens/tri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212080" cy="3142578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5943600" y="1371600"/>
            <a:ext cx="2743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5-level triage record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NEWS2 early-warning breakdown and reasons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can override; every change is audited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Agent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tools, review,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MediSphere AI  |  Edvergencex x TTIT capstone</a:t>
            </a:r>
            <a:endParaRPr lang="en-US" sz="900" dirty="0"/>
          </a:p>
        </p:txBody>
      </p:sp>
      <p:pic>
        <p:nvPicPr>
          <p:cNvPr id="5" name="Image 0" descr="/home/claude/work/medisphere-ai/assets/screens/ag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212080" cy="3142578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5943600" y="1371600"/>
            <a:ext cx="2743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loop with a full trace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review before the report is shown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same tools as the assistant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reports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with lab parsing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MediSphere AI  |  Edvergencex x TTIT capstone</a:t>
            </a:r>
            <a:endParaRPr lang="en-US" sz="900" dirty="0"/>
          </a:p>
        </p:txBody>
      </p:sp>
      <p:pic>
        <p:nvPicPr>
          <p:cNvPr id="5" name="Image 0" descr="/home/claude/work/medisphere-ai/assets/screens/docu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212080" cy="3142578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5943600" y="1371600"/>
            <a:ext cx="2743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scans and PDFs, flags abnormal values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medicine list for interactions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 in memory; never stored or indexed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compliance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MediSphere AI  |  Edvergencex x TTIT capstone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roles with least-privilege access: admin, doctor, nurse, receptionist, analyst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 passwords, signed expiring sessions, lockout after 5 failures, rate limits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hash-chained audit trail that detects tampering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Per-site data isolation and optional field encryption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R4 export with LOINC codes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 PII masking, prompt-injection filter, crisis routing, no personal drug doses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MediSphere AI  |  Edvergencex x TTIT capstone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1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4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1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4173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291840" y="2240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4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documents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1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4173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126480" y="2240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4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steps traced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0175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cover retrieval, guardrails, triage rules, auth, RBAC, audit chain, site isolation, FHIR and OCR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run on the real server checked every screen and found no console errors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and next steps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MediSphere AI  |  Edvergencex x TTIT capstone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 only; not a medical device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knowledge base and drug table need clinical validation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uses fictional data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and live-LLM modes were not run in the build environment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54880" y="169164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review and a pilot at one site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and single sign-on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HL7/FHIR connection to the hospital record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multilingual knowledge base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C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open the live demo (fictional data)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760720" y="1097280"/>
            <a:ext cx="27432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/home/claude/work/medisphere-ai/assets/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280160"/>
            <a:ext cx="2377440" cy="2377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2026-10-04T17:06:01Z</dcterms:created>
  <dcterms:modified xsi:type="dcterms:W3CDTF">2026-10-04T17:06:01Z</dcterms:modified>
</cp:coreProperties>
</file>